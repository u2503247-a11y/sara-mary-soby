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WATER CONSERVATION PORTAL</a:t>
            </a:r>
          </a:p>
          <a:p>
            <a:pPr>
              <a:defRPr sz="2300" b="1">
                <a:solidFill>
                  <a:srgbClr val="FFFFFF"/>
                </a:solidFill>
              </a:defRPr>
            </a:pPr>
            <a:r>
              <a:t>AquaTrack — Gamified Water Conservation Monitoring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TEAM 6</a:t>
            </a:r>
          </a:p>
          <a:p>
            <a:pPr>
              <a:spcAft>
                <a:spcPts val="300"/>
              </a:spcAft>
              <a:defRPr sz="1700">
                <a:solidFill>
                  <a:srgbClr val="E2E8F0"/>
                </a:solidFill>
              </a:defRPr>
            </a:pPr>
            <a:r>
              <a:t>Salini Saju</a:t>
            </a:r>
          </a:p>
          <a:p>
            <a:pPr>
              <a:spcAft>
                <a:spcPts val="300"/>
              </a:spcAft>
              <a:defRPr sz="1700">
                <a:solidFill>
                  <a:srgbClr val="E2E8F0"/>
                </a:solidFill>
              </a:defRPr>
            </a:pPr>
            <a:r>
              <a:t>Sam Paul Peter</a:t>
            </a:r>
          </a:p>
          <a:p>
            <a:pPr>
              <a:spcAft>
                <a:spcPts val="300"/>
              </a:spcAft>
              <a:defRPr sz="1700">
                <a:solidFill>
                  <a:srgbClr val="E2E8F0"/>
                </a:solidFill>
              </a:defRPr>
            </a:pPr>
            <a:r>
              <a:t>Samayi A S</a:t>
            </a:r>
          </a:p>
          <a:p>
            <a:pPr>
              <a:spcAft>
                <a:spcPts val="300"/>
              </a:spcAft>
              <a:defRPr sz="1700">
                <a:solidFill>
                  <a:srgbClr val="E2E8F0"/>
                </a:solidFill>
              </a:defRPr>
            </a:pPr>
            <a:r>
              <a:t>Sampreet</a:t>
            </a:r>
          </a:p>
          <a:p>
            <a:pPr>
              <a:spcAft>
                <a:spcPts val="300"/>
              </a:spcAft>
              <a:defRPr sz="1700">
                <a:solidFill>
                  <a:srgbClr val="E2E8F0"/>
                </a:solidFill>
              </a:defRPr>
            </a:pPr>
            <a:r>
              <a:t>Santo Joseph</a:t>
            </a:r>
          </a:p>
          <a:p>
            <a:pPr>
              <a:spcAft>
                <a:spcPts val="300"/>
              </a:spcAft>
              <a:defRPr sz="1700">
                <a:solidFill>
                  <a:srgbClr val="E2E8F0"/>
                </a:solidFill>
              </a:defRPr>
            </a:pPr>
            <a:r>
              <a:t>Sara 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4983480"/>
            <a:ext cx="3063240" cy="5669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SDG 6 • Clean Water &amp; Sanitation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Why a water-conservation monitoring portal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Water wastage can occur through leaks, overflowing fixtures, damaged plumbing, and inefficient irrigation.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Users may not know how much water they consume because feedback is often delayed or unavailable.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Manual reporting of wastage can make it difficult to communicate an issue and track corrective action.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Without engagement or incentives, users may not consistently adopt water-saving habits.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459559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79" y="1371600"/>
            <a:ext cx="64008" cy="4343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8392" y="1527048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Core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2029967"/>
            <a:ext cx="6305876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A simple digital system that connects monitoring,</a:t>
            </a:r>
            <a:endParaRPr lang="en-US" dirty="0"/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 reporting, user participation and conservation</a:t>
            </a:r>
            <a:endParaRPr lang="en-US" dirty="0"/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 actions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59267" y="3145536"/>
            <a:ext cx="141732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73767" y="3168396"/>
            <a:ext cx="141732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Detect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977639"/>
            <a:ext cx="141732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3767" y="3977639"/>
            <a:ext cx="141732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2. Sustainability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Environmental, social and economic dimensions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8132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Environmental Sustainability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036344" cy="26673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• Encourages reduction of unnecessary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water consumption</a:t>
            </a:r>
            <a:br>
              <a:rPr dirty="0"/>
            </a:br>
            <a:br>
              <a:rPr dirty="0"/>
            </a:br>
            <a:r>
              <a:rPr dirty="0"/>
              <a:t>• Supports faster reporting of leaks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and wastage</a:t>
            </a:r>
            <a:br>
              <a:rPr dirty="0"/>
            </a:br>
            <a:br>
              <a:rPr dirty="0"/>
            </a:br>
            <a:r>
              <a:rPr dirty="0"/>
              <a:t>• Can complement water-efficient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irrigation and greywater reuse</a:t>
            </a:r>
            <a:br>
              <a:rPr dirty="0"/>
            </a:br>
            <a:br>
              <a:rPr dirty="0"/>
            </a:br>
            <a:r>
              <a:rPr dirty="0"/>
              <a:t>• Contributes to responsible use of a 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limited resource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64008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8132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Social Sustainability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84248"/>
            <a:ext cx="3165034" cy="26673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• Gives students and residents a 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direct role in conservation</a:t>
            </a:r>
            <a:br>
              <a:rPr dirty="0"/>
            </a:br>
            <a:br>
              <a:rPr dirty="0"/>
            </a:br>
            <a:r>
              <a:rPr dirty="0"/>
              <a:t>• Uses challenges, badges and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leaderboards to encourage participation</a:t>
            </a:r>
            <a:br>
              <a:rPr dirty="0"/>
            </a:br>
            <a:br>
              <a:rPr dirty="0"/>
            </a:br>
            <a:r>
              <a:rPr dirty="0"/>
              <a:t>• Makes wastage visible and easier 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to report</a:t>
            </a:r>
            <a:br>
              <a:rPr dirty="0"/>
            </a:br>
            <a:br>
              <a:rPr dirty="0"/>
            </a:br>
            <a:r>
              <a:rPr dirty="0"/>
              <a:t>• Builds awareness through feedback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and community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64008" cy="4480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2" y="148132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Economic / Operational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1984248"/>
            <a:ext cx="3313471" cy="26673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• Helps identify avoidable consumption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and wastage</a:t>
            </a:r>
            <a:br>
              <a:rPr dirty="0"/>
            </a:br>
            <a:br>
              <a:rPr dirty="0"/>
            </a:br>
            <a:r>
              <a:rPr dirty="0"/>
              <a:t>• Supports data-based decisions by facility 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teams</a:t>
            </a:r>
            <a:br>
              <a:rPr dirty="0"/>
            </a:br>
            <a:br>
              <a:rPr dirty="0"/>
            </a:br>
            <a:r>
              <a:rPr dirty="0"/>
              <a:t>• Creates a record of reported issues and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corrective action</a:t>
            </a:r>
            <a:br>
              <a:rPr dirty="0"/>
            </a:br>
            <a:br>
              <a:rPr dirty="0"/>
            </a:br>
            <a:r>
              <a:rPr dirty="0"/>
              <a:t>• Digital monitoring can reduce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dependence on manual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3. Individual Proposed Solutions —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Members 1 and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434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72768"/>
            <a:ext cx="49834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284C7"/>
                </a:solidFill>
              </a:defRPr>
            </a:pPr>
            <a:r>
              <a:t>Member 1 — Smart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4700069" cy="2113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Portal focuses on tracking water consumption through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dashboards and graphs.</a:t>
            </a:r>
            <a:br>
              <a:rPr dirty="0"/>
            </a:br>
            <a:br>
              <a:rPr dirty="0"/>
            </a:br>
            <a:r>
              <a:rPr dirty="0"/>
              <a:t>Key contribution:</a:t>
            </a:r>
            <a:br>
              <a:rPr dirty="0"/>
            </a:br>
            <a:r>
              <a:rPr dirty="0"/>
              <a:t>• Meter-reading entries</a:t>
            </a:r>
            <a:br>
              <a:rPr dirty="0"/>
            </a:br>
            <a:r>
              <a:rPr dirty="0"/>
              <a:t>• Consumption trends</a:t>
            </a:r>
            <a:br>
              <a:rPr dirty="0"/>
            </a:br>
            <a:r>
              <a:rPr dirty="0"/>
              <a:t>• Usage feedback</a:t>
            </a:r>
            <a:br>
              <a:rPr dirty="0"/>
            </a:br>
            <a:r>
              <a:rPr dirty="0"/>
              <a:t>• Dashboard-based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64008" cy="4434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49834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0B981"/>
                </a:solidFill>
              </a:defRPr>
            </a:pPr>
            <a:r>
              <a:t>Member 2 — Leak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075688"/>
            <a:ext cx="4886274" cy="2113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Portal focuses on identifying abnormal consumption and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possible leaks.</a:t>
            </a:r>
            <a:br>
              <a:rPr dirty="0"/>
            </a:br>
            <a:br>
              <a:rPr dirty="0"/>
            </a:br>
            <a:r>
              <a:rPr dirty="0"/>
              <a:t>Key contribution:</a:t>
            </a:r>
            <a:br>
              <a:rPr dirty="0"/>
            </a:br>
            <a:r>
              <a:rPr dirty="0"/>
              <a:t>• Detect unusual usage patterns</a:t>
            </a:r>
            <a:br>
              <a:rPr dirty="0"/>
            </a:br>
            <a:r>
              <a:rPr dirty="0"/>
              <a:t>• Highlight possible leaks</a:t>
            </a:r>
            <a:br>
              <a:rPr dirty="0"/>
            </a:br>
            <a:r>
              <a:rPr dirty="0"/>
              <a:t>• Support early intervention</a:t>
            </a:r>
            <a:br>
              <a:rPr dirty="0"/>
            </a:br>
            <a:r>
              <a:rPr dirty="0"/>
              <a:t>• Connect detection with reporting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3. Individual Proposed Solutions —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Members 3 and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434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72768"/>
            <a:ext cx="49834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366F1"/>
                </a:solidFill>
              </a:defRPr>
            </a:pPr>
            <a:r>
              <a:t>Member 3 — Gamification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4966103" cy="2113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Portal motivates users through points, badges, challenges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and leaderboards.</a:t>
            </a:r>
            <a:br>
              <a:rPr dirty="0"/>
            </a:br>
            <a:br>
              <a:rPr dirty="0"/>
            </a:br>
            <a:r>
              <a:rPr dirty="0"/>
              <a:t>Key contribution:</a:t>
            </a:r>
            <a:br>
              <a:rPr dirty="0"/>
            </a:br>
            <a:r>
              <a:rPr dirty="0"/>
              <a:t>• XP for conservation actions</a:t>
            </a:r>
            <a:br>
              <a:rPr dirty="0"/>
            </a:br>
            <a:r>
              <a:rPr dirty="0"/>
              <a:t>• Badges and streaks</a:t>
            </a:r>
            <a:br>
              <a:rPr dirty="0"/>
            </a:br>
            <a:r>
              <a:rPr dirty="0"/>
              <a:t>• Community leaderboard</a:t>
            </a:r>
            <a:br>
              <a:rPr dirty="0"/>
            </a:br>
            <a:r>
              <a:rPr dirty="0"/>
              <a:t>• Missions and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64008" cy="4434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49834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9E0B"/>
                </a:solidFill>
              </a:defRPr>
            </a:pPr>
            <a:r>
              <a:t>Member 4 — Wastage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075688"/>
            <a:ext cx="4493410" cy="2113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Portal allows users to report water wastage and lets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authorities track corrective action.</a:t>
            </a:r>
            <a:br>
              <a:rPr dirty="0"/>
            </a:br>
            <a:br>
              <a:rPr dirty="0"/>
            </a:br>
            <a:r>
              <a:rPr dirty="0"/>
              <a:t>Key contribution:</a:t>
            </a:r>
            <a:br>
              <a:rPr dirty="0"/>
            </a:br>
            <a:r>
              <a:rPr dirty="0"/>
              <a:t>• Location and issue details</a:t>
            </a:r>
            <a:br>
              <a:rPr dirty="0"/>
            </a:br>
            <a:r>
              <a:rPr dirty="0"/>
              <a:t>• Severity level</a:t>
            </a:r>
            <a:br>
              <a:rPr dirty="0"/>
            </a:br>
            <a:r>
              <a:rPr dirty="0"/>
              <a:t>• Report status</a:t>
            </a:r>
            <a:br>
              <a:rPr dirty="0"/>
            </a:br>
            <a:r>
              <a:rPr dirty="0"/>
              <a:t>• Resolution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3. Individual Proposed Solutions —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Members 5 and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492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4663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81328"/>
            <a:ext cx="49834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D9488"/>
                </a:solidFill>
              </a:defRPr>
            </a:pPr>
            <a:r>
              <a:t>Member 5 — Predictive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99226" cy="2113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Portal analyzes historical consumption data and predicts 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future water demand / wastage.</a:t>
            </a:r>
            <a:br>
              <a:rPr dirty="0"/>
            </a:br>
            <a:br>
              <a:rPr dirty="0"/>
            </a:br>
            <a:r>
              <a:rPr dirty="0"/>
              <a:t>Key contribution:</a:t>
            </a:r>
            <a:br>
              <a:rPr dirty="0"/>
            </a:br>
            <a:r>
              <a:rPr dirty="0"/>
              <a:t>• Historical usage analysis</a:t>
            </a:r>
            <a:br>
              <a:rPr dirty="0"/>
            </a:br>
            <a:r>
              <a:rPr dirty="0"/>
              <a:t>• Demand forecasting</a:t>
            </a:r>
            <a:br>
              <a:rPr dirty="0"/>
            </a:br>
            <a:r>
              <a:rPr dirty="0"/>
              <a:t>• Identification of unusual trends</a:t>
            </a:r>
            <a:br>
              <a:rPr dirty="0"/>
            </a:br>
            <a:r>
              <a:rPr dirty="0"/>
              <a:t>• Data-supported 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64008" cy="4663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481328"/>
            <a:ext cx="48379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rPr dirty="0"/>
              <a:t>Member 6 — Automated Greywater Recycling &amp; </a:t>
            </a:r>
            <a:endParaRPr lang="en-US" dirty="0"/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rPr dirty="0"/>
              <a:t>Soil-Moisture Irrigation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84248"/>
            <a:ext cx="5196038" cy="27853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lang="en-US"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Combines automated greywater reuse with soil-moisture-based </a:t>
            </a:r>
            <a:endParaRPr lang="en-US"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irrigation control.</a:t>
            </a:r>
            <a:br>
              <a:rPr dirty="0"/>
            </a:br>
            <a:br>
              <a:rPr dirty="0"/>
            </a:br>
            <a:r>
              <a:rPr dirty="0"/>
              <a:t>Key contribution:</a:t>
            </a:r>
            <a:br>
              <a:rPr dirty="0"/>
            </a:br>
            <a:r>
              <a:rPr dirty="0"/>
              <a:t>• Reuse suitable greywater for irrigation</a:t>
            </a:r>
            <a:br>
              <a:rPr dirty="0"/>
            </a:br>
            <a:r>
              <a:rPr dirty="0"/>
              <a:t>• Use soil-moisture information to control irrigation</a:t>
            </a:r>
            <a:br>
              <a:rPr dirty="0"/>
            </a:br>
            <a:r>
              <a:rPr dirty="0"/>
              <a:t>• Reduce unnecessary freshwater use</a:t>
            </a:r>
            <a:br>
              <a:rPr dirty="0"/>
            </a:br>
            <a:br>
              <a:rPr dirty="0"/>
            </a:br>
            <a:r>
              <a:rPr dirty="0"/>
              <a:t>Note: the supplied proposal provides the solution title;</a:t>
            </a:r>
            <a:endParaRPr lang="en-US"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implementation details were not provided.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4. Selection of the Final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Why the team selected the AquaTrack portal as the final web-based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783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8132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284C7"/>
                </a:solidFill>
              </a:defRPr>
            </a:pPr>
            <a:r>
              <a:t>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Brings monitoring, reporting and user engagement into one portal.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148132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Usability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84248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Provides simple dashboards and clear actions for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64008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63016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Sustainability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33087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Directly supports water-use awareness and conservation behaviour.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64008" cy="1783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63016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Demonstrability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133087"/>
            <a:ext cx="4958217" cy="5745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Can be demonstrated through working web pages and interactive</a:t>
            </a:r>
            <a:endParaRPr lang="en-US" dirty="0"/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 sections.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623560"/>
            <a:ext cx="9966960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FINAL WEB SOLUTION: AQUATRACK — GAMIFIED WATER CONSERVATION MONITORING 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5. Final Solution — AquaTrack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Main functions implemented in the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783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8132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SDG 6-focused landing page with water-conservation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148132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Dashboard &amp; 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84248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Log readings and view consumption indicators and trends.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6400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63016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Wastage / Leak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33087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Submit issues with location, type, severity and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64008" cy="1783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63016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Gamification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133087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XP, streaks, missions, badges and leaderboard encourage participation.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The website connects the user-facing conservation actions into one digital workflow.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6. Website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Suggested 5–7 minute live demonstration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566928" cy="5669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16152"/>
            <a:ext cx="9875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Open the AquaTrack website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Show the Overview / SDG 6 landing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67128"/>
            <a:ext cx="566928" cy="5669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9875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Open Dashboard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Enter or display a meter reading and show the consumption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99816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81528"/>
            <a:ext cx="9875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Open Wastage Reporting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Create/show a report and demonstrate its status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32504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014216"/>
            <a:ext cx="9875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Open Leaderboard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Show XP, streaks, missions and community ranking.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965192"/>
            <a:ext cx="566928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946904"/>
            <a:ext cx="9875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Explain the workflow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Connect monitoring → detection/reporting → engagement → conservation 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7. Website Screenshots — Overview &amp;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Screenshots included as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89204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64008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5047488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550407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Hero section, SDG 6 context, conservation actions and impact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489204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489204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5047488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5550407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Meter reading, usage indicators and consumption trend visualization.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10/12</a:t>
            </a:r>
          </a:p>
        </p:txBody>
      </p:sp>
      <p:pic>
        <p:nvPicPr>
          <p:cNvPr id="14" name="Picture 1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5074920" cy="3493008"/>
          </a:xfrm>
          <a:prstGeom prst="rect">
            <a:avLst/>
          </a:prstGeom>
          <a:ln w="13716">
            <a:solidFill>
              <a:srgbClr val="CBD5E1"/>
            </a:solidFill>
          </a:ln>
        </p:spPr>
      </p:pic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074920" cy="3493008"/>
          </a:xfrm>
          <a:prstGeom prst="rect">
            <a:avLst/>
          </a:prstGeom>
          <a:ln w="13716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93B"/>
                </a:solidFill>
              </a:defRPr>
            </a:pPr>
            <a:r>
              <a:t>7. Website Screenshots — Reporting &amp; Gamification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Interactive sections used during the live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89204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5047488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Wastage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550407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Issue details, severity and corrective-action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489204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4892040"/>
            <a:ext cx="64008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5047488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Gamification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5550407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XP, streaks, missions and leaderboard.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11/12</a:t>
            </a:r>
          </a:p>
        </p:txBody>
      </p:sp>
      <p:pic>
        <p:nvPicPr>
          <p:cNvPr id="14" name="Picture 13" descr="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5074920" cy="3493008"/>
          </a:xfrm>
          <a:prstGeom prst="rect">
            <a:avLst/>
          </a:prstGeom>
          <a:ln w="13716">
            <a:solidFill>
              <a:srgbClr val="CBD5E1"/>
            </a:solidFill>
          </a:ln>
        </p:spPr>
      </p:pic>
      <p:pic>
        <p:nvPicPr>
          <p:cNvPr id="15" name="Picture 14" descr="gam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074920" cy="3493008"/>
          </a:xfrm>
          <a:prstGeom prst="rect">
            <a:avLst/>
          </a:prstGeom>
          <a:ln w="13716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8. Conclusion &amp;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BD5E1"/>
                </a:solidFill>
              </a:defRPr>
            </a:pPr>
            <a:r>
              <a:t>The complete presentation and demonstration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64008" cy="4434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38988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284C7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892808"/>
            <a:ext cx="4912627" cy="202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 err="1"/>
              <a:t>AquaTrack</a:t>
            </a:r>
            <a:r>
              <a:rPr dirty="0"/>
              <a:t> provides a unified web-based approach to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water conservation by combining monitoring, reporting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and gamification.</a:t>
            </a:r>
            <a:br>
              <a:rPr dirty="0"/>
            </a:br>
            <a:br>
              <a:rPr dirty="0"/>
            </a:br>
            <a:r>
              <a:rPr dirty="0"/>
              <a:t>The six individual ideas show different engineering /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IT approaches, while the final portal provides a practical</a:t>
            </a: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platform for demonstrating core conservation functions.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64008" cy="4434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138988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Required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892808"/>
            <a:ext cx="4555927" cy="2734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1. Website source code — </a:t>
            </a:r>
            <a:r>
              <a:rPr dirty="0" err="1"/>
              <a:t>AquaTrack</a:t>
            </a:r>
            <a:r>
              <a:rPr dirty="0"/>
              <a:t> HTML files</a:t>
            </a:r>
            <a:br>
              <a:rPr dirty="0"/>
            </a:br>
            <a:br>
              <a:rPr dirty="0"/>
            </a:br>
            <a:r>
              <a:rPr dirty="0"/>
              <a:t>2. Hosted Website URL / Local Host — run the website</a:t>
            </a:r>
            <a:endParaRPr lang="en-US"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locally in a browser</a:t>
            </a:r>
            <a:br>
              <a:rPr dirty="0"/>
            </a:br>
            <a:br>
              <a:rPr dirty="0"/>
            </a:br>
            <a:r>
              <a:rPr dirty="0"/>
              <a:t>3. PowerPoint Presentation — this 12-slide presentation</a:t>
            </a:r>
            <a:br>
              <a:rPr dirty="0"/>
            </a:br>
            <a:br>
              <a:rPr dirty="0"/>
            </a:br>
            <a:r>
              <a:rPr dirty="0"/>
              <a:t>4. Live Demonstration — 5–7 minutes</a:t>
            </a:r>
            <a:br>
              <a:rPr dirty="0"/>
            </a:br>
            <a:br>
              <a:rPr dirty="0"/>
            </a:br>
            <a:r>
              <a:rPr dirty="0"/>
              <a:t>5. Individual reports — submit softcopies with the PPT</a:t>
            </a:r>
            <a:endParaRPr lang="en-US"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as instructed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897880"/>
            <a:ext cx="8503920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READY FOR LIVE DEMONSTRATION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B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WATER CONSERVATION PORTAL • TEAM 6 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1101</Words>
  <Application>Microsoft Office PowerPoint</Application>
  <PresentationFormat>Widescreen</PresentationFormat>
  <Paragraphs>148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 Soby</cp:lastModifiedBy>
  <cp:revision>3</cp:revision>
  <dcterms:created xsi:type="dcterms:W3CDTF">2013-01-27T09:14:16Z</dcterms:created>
  <dcterms:modified xsi:type="dcterms:W3CDTF">2026-09-22T17:51:21Z</dcterms:modified>
  <cp:category/>
</cp:coreProperties>
</file>